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1.xml" ContentType="application/vnd.openxmlformats-officedocument.drawingml.chart+xml"/>
  <Override PartName="/ppt/notesSlides/notesSlide15.xml" ContentType="application/vnd.openxmlformats-officedocument.presentationml.notesSlide+xml"/>
  <Override PartName="/ppt/charts/chart1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4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rgbClr val="00C9B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E6-4055-A8EE-28BE54B37DC4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E6-4055-A8EE-28BE54B37DC4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E6-4055-A8EE-28BE54B37DC4}"/>
              </c:ext>
            </c:extLst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2E6-4055-A8EE-28BE54B37DC4}"/>
              </c:ext>
            </c:extLst>
          </c:dPt>
          <c:dPt>
            <c:idx val="4"/>
            <c:invertIfNegative val="0"/>
            <c:bubble3D val="0"/>
            <c:spPr>
              <a:solidFill>
                <a:srgbClr val="2129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2E6-4055-A8EE-28BE54B37DC4}"/>
              </c:ext>
            </c:extLst>
          </c:dPt>
          <c:dPt>
            <c:idx val="5"/>
            <c:invertIfNegative val="0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2E6-4055-A8EE-28BE54B37D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USA</c:v>
                </c:pt>
                <c:pt idx="1">
                  <c:v>Canada</c:v>
                </c:pt>
                <c:pt idx="2">
                  <c:v>France</c:v>
                </c:pt>
                <c:pt idx="3">
                  <c:v>Brazil</c:v>
                </c:pt>
                <c:pt idx="4">
                  <c:v>Germany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2E6-4055-A8EE-28BE54B37D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6B6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6B6B"/>
                </a:solidFill>
                <a:latin typeface="Arial"/>
              </a:rPr>
              <a:t>Top 5 Tracks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Minha Historia</c:v>
                </c:pt>
                <c:pt idx="1">
                  <c:v>Greatest Hits</c:v>
                </c:pt>
                <c:pt idx="2">
                  <c:v>Unplugged</c:v>
                </c:pt>
                <c:pt idx="3">
                  <c:v>Acústico</c:v>
                </c:pt>
                <c:pt idx="4">
                  <c:v>Greatest Kiss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26</c:v>
                </c:pt>
                <c:pt idx="2">
                  <c:v>25</c:v>
                </c:pt>
                <c:pt idx="3">
                  <c:v>22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6E-4B7A-A0DE-FFF6A04732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D166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D166"/>
                </a:solidFill>
                <a:latin typeface="Arial"/>
              </a:rPr>
              <a:t>Monthly Sales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38100" cap="flat">
              <a:solidFill>
                <a:srgbClr val="FFD1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D166"/>
              </a:solidFill>
              <a:ln w="9525" cap="flat">
                <a:solidFill>
                  <a:srgbClr val="FFD16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38</c:v>
                </c:pt>
                <c:pt idx="2">
                  <c:v>41</c:v>
                </c:pt>
                <c:pt idx="3">
                  <c:v>36</c:v>
                </c:pt>
                <c:pt idx="4">
                  <c:v>37</c:v>
                </c:pt>
                <c:pt idx="5">
                  <c:v>41</c:v>
                </c:pt>
                <c:pt idx="6">
                  <c:v>36</c:v>
                </c:pt>
                <c:pt idx="7">
                  <c:v>36</c:v>
                </c:pt>
                <c:pt idx="8">
                  <c:v>37</c:v>
                </c:pt>
                <c:pt idx="9">
                  <c:v>37</c:v>
                </c:pt>
                <c:pt idx="10">
                  <c:v>37</c:v>
                </c:pt>
                <c:pt idx="11">
                  <c:v>41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A81-4DC7-A32C-F4971235C8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Invoice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8AA-4D13-A65D-0F3FFC0999FC}"/>
              </c:ext>
            </c:extLst>
          </c:dPt>
          <c:dPt>
            <c:idx val="1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AA-4D13-A65D-0F3FFC0999F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8AA-4D13-A65D-0F3FFC0999F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8AA-4D13-A65D-0F3FFC0999F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Above Average (38.4%)</c:v>
                </c:pt>
                <c:pt idx="1">
                  <c:v>Below Average (61.6%)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38.4</c:v>
                </c:pt>
                <c:pt idx="1">
                  <c:v>61.6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8AA-4D13-A65D-0F3FFC0999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6B6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6B6B"/>
                </a:solidFill>
                <a:latin typeface="Arial"/>
              </a:rPr>
              <a:t>Top Customers by Spend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 ($)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393-43A8-855C-0C41C6C4FFCF}"/>
              </c:ext>
            </c:extLst>
          </c:dPt>
          <c:dPt>
            <c:idx val="1"/>
            <c:invertIfNegative val="0"/>
            <c:bubble3D val="0"/>
            <c:spPr>
              <a:solidFill>
                <a:srgbClr val="E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93-43A8-855C-0C41C6C4FFCF}"/>
              </c:ext>
            </c:extLst>
          </c:dPt>
          <c:dPt>
            <c:idx val="2"/>
            <c:invertIfNegative val="0"/>
            <c:bubble3D val="0"/>
            <c:spPr>
              <a:solidFill>
                <a:srgbClr val="C9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93-43A8-855C-0C41C6C4FFCF}"/>
              </c:ext>
            </c:extLst>
          </c:dPt>
          <c:dPt>
            <c:idx val="3"/>
            <c:invertIfNegative val="0"/>
            <c:bubble3D val="0"/>
            <c:spPr>
              <a:solidFill>
                <a:srgbClr val="B335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393-43A8-855C-0C41C6C4FFCF}"/>
              </c:ext>
            </c:extLst>
          </c:dPt>
          <c:dPt>
            <c:idx val="4"/>
            <c:invertIfNegative val="0"/>
            <c:bubble3D val="0"/>
            <c:spPr>
              <a:solidFill>
                <a:srgbClr val="9C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393-43A8-855C-0C41C6C4FF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Helena Holy
(CZ)</c:v>
                </c:pt>
                <c:pt idx="1">
                  <c:v>Richard Cunningham
(US)</c:v>
                </c:pt>
                <c:pt idx="2">
                  <c:v>Luis Rojas
(CL)</c:v>
                </c:pt>
                <c:pt idx="3">
                  <c:v>Ladislav Kovacs
(HU)</c:v>
                </c:pt>
                <c:pt idx="4">
                  <c:v>Hugh O'Reilly
(IE)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49.62</c:v>
                </c:pt>
                <c:pt idx="1">
                  <c:v>47.62</c:v>
                </c:pt>
                <c:pt idx="2">
                  <c:v>46.62</c:v>
                </c:pt>
                <c:pt idx="3">
                  <c:v>45.62</c:v>
                </c:pt>
                <c:pt idx="4">
                  <c:v>45.62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393-43A8-855C-0C41C6C4FF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6B6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6B6B"/>
                </a:solidFill>
                <a:latin typeface="Arial"/>
              </a:rPr>
              <a:t>Customer Geographic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C6-4593-8074-929748AC2FDA}"/>
              </c:ext>
            </c:extLst>
          </c:dPt>
          <c:dPt>
            <c:idx val="1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C6-4593-8074-929748AC2FDA}"/>
              </c:ext>
            </c:extLst>
          </c:dPt>
          <c:dPt>
            <c:idx val="2"/>
            <c:bubble3D val="0"/>
            <c:spPr>
              <a:solidFill>
                <a:srgbClr val="00C9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C6-4593-8074-929748AC2FDA}"/>
              </c:ext>
            </c:extLst>
          </c:dPt>
          <c:dPt>
            <c:idx val="3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7C6-4593-8074-929748AC2FDA}"/>
              </c:ext>
            </c:extLst>
          </c:dPt>
          <c:dPt>
            <c:idx val="4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7C6-4593-8074-929748AC2FD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7C6-4593-8074-929748AC2FD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7C6-4593-8074-929748AC2FD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7C6-4593-8074-929748AC2FD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7C6-4593-8074-929748AC2FD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C6-4593-8074-929748AC2FD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USA (21.7%)</c:v>
                </c:pt>
                <c:pt idx="1">
                  <c:v>Canada (13.3%)</c:v>
                </c:pt>
                <c:pt idx="2">
                  <c:v>France (8.3%)</c:v>
                </c:pt>
                <c:pt idx="3">
                  <c:v>Brazil (8.3%)</c:v>
                </c:pt>
                <c:pt idx="4">
                  <c:v>Others (48.4%)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8</c:v>
                </c:pt>
                <c:pt idx="2">
                  <c:v>5</c:v>
                </c:pt>
                <c:pt idx="3">
                  <c:v>5</c:v>
                </c:pt>
                <c:pt idx="4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7C6-4593-8074-929748AC2F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D166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D166"/>
                </a:solidFill>
                <a:latin typeface="Arial"/>
              </a:rPr>
              <a:t>Genre Sales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Track 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597-4B79-BE5E-45F3229ABFAB}"/>
              </c:ext>
            </c:extLst>
          </c:dPt>
          <c:dPt>
            <c:idx val="1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97-4B79-BE5E-45F3229ABFAB}"/>
              </c:ext>
            </c:extLst>
          </c:dPt>
          <c:dPt>
            <c:idx val="2"/>
            <c:bubble3D val="0"/>
            <c:spPr>
              <a:solidFill>
                <a:srgbClr val="00C9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597-4B79-BE5E-45F3229ABFAB}"/>
              </c:ext>
            </c:extLst>
          </c:dPt>
          <c:dPt>
            <c:idx val="3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597-4B79-BE5E-45F3229ABFAB}"/>
              </c:ext>
            </c:extLst>
          </c:dPt>
          <c:dPt>
            <c:idx val="4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597-4B79-BE5E-45F3229ABFAB}"/>
              </c:ext>
            </c:extLst>
          </c:dPt>
          <c:dPt>
            <c:idx val="5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597-4B79-BE5E-45F3229ABFA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597-4B79-BE5E-45F3229ABFA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97-4B79-BE5E-45F3229ABFA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97-4B79-BE5E-45F3229ABFA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97-4B79-BE5E-45F3229ABFA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597-4B79-BE5E-45F3229ABFAB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597-4B79-BE5E-45F3229ABFA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Rock (53%)</c:v>
                </c:pt>
                <c:pt idx="1">
                  <c:v>Latin (12.4%)</c:v>
                </c:pt>
                <c:pt idx="2">
                  <c:v>Metal (8%)</c:v>
                </c:pt>
                <c:pt idx="3">
                  <c:v>Alternative (6%)</c:v>
                </c:pt>
                <c:pt idx="4">
                  <c:v>Blues (4%)</c:v>
                </c:pt>
                <c:pt idx="5">
                  <c:v>Others (16.6%)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</c:v>
                </c:pt>
                <c:pt idx="1">
                  <c:v>12.4</c:v>
                </c:pt>
                <c:pt idx="2">
                  <c:v>8</c:v>
                </c:pt>
                <c:pt idx="3">
                  <c:v>6</c:v>
                </c:pt>
                <c:pt idx="4">
                  <c:v>4</c:v>
                </c:pt>
                <c:pt idx="5">
                  <c:v>16.600000000000001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597-4B79-BE5E-45F3229ABF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00C9B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EA9-453E-9A69-7ADBFBC1FA00}"/>
              </c:ext>
            </c:extLst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A9-453E-9A69-7ADBFBC1FA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Ever Sold</c:v>
                </c:pt>
                <c:pt idx="1">
                  <c:v>Never Sold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</c:v>
                </c:pt>
                <c:pt idx="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A9-453E-9A69-7ADBFBC1FA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D166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D166"/>
                </a:solidFill>
                <a:latin typeface="Arial"/>
              </a:rPr>
              <a:t>Sales Rate by Track Duration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Rate</c:v>
                </c:pt>
              </c:strCache>
            </c:strRef>
          </c:tx>
          <c:spPr>
            <a:solidFill>
              <a:srgbClr val="FFD1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&lt;1 min</c:v>
                </c:pt>
                <c:pt idx="1">
                  <c:v>1-3 min</c:v>
                </c:pt>
                <c:pt idx="2">
                  <c:v>3-5 min</c:v>
                </c:pt>
                <c:pt idx="3">
                  <c:v>5-8 min</c:v>
                </c:pt>
                <c:pt idx="4">
                  <c:v>&gt;8 min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0.55000000000000004</c:v>
                </c:pt>
                <c:pt idx="2">
                  <c:v>0.78</c:v>
                </c:pt>
                <c:pt idx="3">
                  <c:v>0.42</c:v>
                </c:pt>
                <c:pt idx="4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86-44AB-9E9B-EC07D7739D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D166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D166"/>
                </a:solidFill>
                <a:latin typeface="Arial"/>
              </a:rPr>
              <a:t>Media Type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Tracks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1D-4EF7-9D60-F4B1468A5423}"/>
              </c:ext>
            </c:extLst>
          </c:dPt>
          <c:dPt>
            <c:idx val="1"/>
            <c:bubble3D val="0"/>
            <c:spPr>
              <a:solidFill>
                <a:srgbClr val="00C9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1D-4EF7-9D60-F4B1468A5423}"/>
              </c:ext>
            </c:extLst>
          </c:dPt>
          <c:dPt>
            <c:idx val="2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1D-4EF7-9D60-F4B1468A5423}"/>
              </c:ext>
            </c:extLst>
          </c:dPt>
          <c:dPt>
            <c:idx val="3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E1D-4EF7-9D60-F4B1468A5423}"/>
              </c:ext>
            </c:extLst>
          </c:dPt>
          <c:dPt>
            <c:idx val="4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E1D-4EF7-9D60-F4B1468A542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E1D-4EF7-9D60-F4B1468A542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1D-4EF7-9D60-F4B1468A542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1D-4EF7-9D60-F4B1468A542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E1D-4EF7-9D60-F4B1468A542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E1D-4EF7-9D60-F4B1468A542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MPEG (73%)</c:v>
                </c:pt>
                <c:pt idx="1">
                  <c:v>AAC (12%)</c:v>
                </c:pt>
                <c:pt idx="2">
                  <c:v>Protected AAC (9%)</c:v>
                </c:pt>
                <c:pt idx="3">
                  <c:v>Purchased AAC (4%)</c:v>
                </c:pt>
                <c:pt idx="4">
                  <c:v>Video (2%)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</c:v>
                </c:pt>
                <c:pt idx="1">
                  <c:v>12</c:v>
                </c:pt>
                <c:pt idx="2">
                  <c:v>9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E1D-4EF7-9D60-F4B1468A5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55F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A855F7"/>
                </a:solidFill>
                <a:latin typeface="Arial"/>
              </a:rPr>
              <a:t>Revenue per Sales Agent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D25-4E6A-A936-DA26330182BE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25-4E6A-A936-DA26330182BE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D25-4E6A-A936-DA26330182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Jane Peacock</c:v>
                </c:pt>
                <c:pt idx="1">
                  <c:v>Margaret Park</c:v>
                </c:pt>
                <c:pt idx="2">
                  <c:v>Steve Johnson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833.04</c:v>
                </c:pt>
                <c:pt idx="1">
                  <c:v>775.4</c:v>
                </c:pt>
                <c:pt idx="2">
                  <c:v>720.16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D25-4E6A-A936-DA26330182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55F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A855F7"/>
                </a:solidFill>
                <a:latin typeface="Arial"/>
              </a:rPr>
              <a:t>Customer Distribution per Agent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24-4BE6-96CC-B5A80F89E27C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24-4BE6-96CC-B5A80F89E27C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24-4BE6-96CC-B5A80F89E27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Jane Peacock</c:v>
                </c:pt>
                <c:pt idx="1">
                  <c:v>Margaret Park</c:v>
                </c:pt>
                <c:pt idx="2">
                  <c:v>Steve Johnson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20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24-4BE6-96CC-B5A80F89E2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108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5029200" cy="5029200"/>
          </a:xfrm>
          <a:prstGeom prst="ellipse">
            <a:avLst/>
          </a:prstGeom>
          <a:solidFill>
            <a:srgbClr val="00C9B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274320"/>
            <a:ext cx="3200400" cy="3200400"/>
          </a:xfrm>
          <a:prstGeom prst="ellipse">
            <a:avLst/>
          </a:prstGeom>
          <a:solidFill>
            <a:srgbClr val="00C9B1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3657600"/>
            <a:ext cx="2011680" cy="2011680"/>
          </a:xfrm>
          <a:prstGeom prst="ellipse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0" y="4389120"/>
            <a:ext cx="1097280" cy="1097280"/>
          </a:xfrm>
          <a:prstGeom prst="ellipse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09728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Store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</a:t>
            </a: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Sales, Customers, Catalog &amp; Team Performance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61630"/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448056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61630"/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06040" y="44805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448056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61630"/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44805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Catalog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448056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61630"/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44805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&amp;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9B1"/>
                </a:solidFill>
              </a:rPr>
              <a:t>TABLE OF 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What's inside this report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046720" cy="749808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4008" cy="749808"/>
          </a:xfrm>
          <a:prstGeom prst="rect">
            <a:avLst/>
          </a:prstGeom>
          <a:solidFill>
            <a:srgbClr val="00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3560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139903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2821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countries, best-selling albums, seasonal trends, invoice stats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046720" cy="749808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64008" cy="7498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0428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71600" y="22677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59689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spenders, geography, churn risk, sales reps coverage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046720" cy="749808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17296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71600" y="313639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Catalog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46557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breakdown, artist catalogs, unsold tracks, track duration vs sales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046720" cy="749808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64008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04164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371600" y="400507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&amp; Performance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3342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workload, revenue distribution, org structure, portfolio size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486400" cy="5486400"/>
          </a:xfrm>
          <a:prstGeom prst="ellipse">
            <a:avLst/>
          </a:prstGeom>
          <a:solidFill>
            <a:srgbClr val="00C9B1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0C9B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005840" cy="10058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1A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الإيرادات والمبيعات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109728" cy="109728"/>
          </a:xfrm>
          <a:prstGeom prst="ellipse">
            <a:avLst/>
          </a:prstGeom>
          <a:solidFill>
            <a:srgbClr val="00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09728" cy="109728"/>
          </a:xfrm>
          <a:prstGeom prst="ellipse">
            <a:avLst/>
          </a:prstGeom>
          <a:solidFill>
            <a:srgbClr val="00C9B1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4480560"/>
            <a:ext cx="109728" cy="109728"/>
          </a:xfrm>
          <a:prstGeom prst="ellipse">
            <a:avLst/>
          </a:prstGeom>
          <a:solidFill>
            <a:srgbClr val="00C9B1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554480" y="4480560"/>
            <a:ext cx="109728" cy="109728"/>
          </a:xfrm>
          <a:prstGeom prst="ellipse">
            <a:avLst/>
          </a:prstGeom>
          <a:solidFill>
            <a:srgbClr val="00C9B1">
              <a:alpha val="6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20240" y="4480560"/>
            <a:ext cx="109728" cy="109728"/>
          </a:xfrm>
          <a:prstGeom prst="ellipse">
            <a:avLst/>
          </a:prstGeom>
          <a:solidFill>
            <a:srgbClr val="00C9B1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0" y="4480560"/>
            <a:ext cx="109728" cy="109728"/>
          </a:xfrm>
          <a:prstGeom prst="ellipse">
            <a:avLst/>
          </a:prstGeom>
          <a:solidFill>
            <a:srgbClr val="00C9B1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B1"/>
                </a:solidFill>
              </a:rPr>
              <a:t>Q1.1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Revenue Countries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B1"/>
                </a:solidFill>
              </a:rPr>
              <a:t>الدول ذات أعلى إيرادات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4173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417320"/>
            <a:ext cx="3108960" cy="320040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852160" y="1417320"/>
            <a:ext cx="64008" cy="3200400"/>
          </a:xfrm>
          <a:prstGeom prst="rect">
            <a:avLst/>
          </a:prstGeom>
          <a:solidFill>
            <a:srgbClr val="00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3504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</a:rPr>
              <a:t>💡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0" y="19202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The USA dominates with ~26% of total global revenue. North America combined accounts for over 40% of total revenue.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3291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الولايات المتحدة تستحوذ على ~26% من الإيرادات العالمية، وأمريكا الشمالية مجتمعةً تمثل أكثر من 40%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B1"/>
                </a:solidFill>
              </a:rPr>
              <a:t>Q1.2 &amp; Q1.3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Best-Selling Tracks &amp; Seasonal Distribution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605497497"/>
              </p:ext>
            </p:extLst>
          </p:nvPr>
        </p:nvGraphicFramePr>
        <p:xfrm>
          <a:off x="365760" y="109728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846320" y="109728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023360"/>
            <a:ext cx="4023360" cy="82296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02920" y="4114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Mar, Jun &amp; Dec see slight sales peaks — seasonal holiday effect.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754880" y="4023360"/>
            <a:ext cx="4114800" cy="82296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892040" y="4114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'Minha Historia' leads with 27 units, noticeably ahead of the next tracks.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0C9B1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B1"/>
                </a:solidFill>
              </a:rPr>
              <a:t>Q1.4 &amp; Q1.5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Invoice Statistics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146304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64008" cy="1463040"/>
          </a:xfrm>
          <a:prstGeom prst="rect">
            <a:avLst/>
          </a:prstGeom>
          <a:solidFill>
            <a:srgbClr val="00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21792" y="2040941"/>
            <a:ext cx="3886200" cy="61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Invoice Value  |  متوسط قيمة الفاتورة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114800" cy="146304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64008" cy="1463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4173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919472" y="2040941"/>
            <a:ext cx="3886200" cy="61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Above Average  |  فواتير فوق المتوسط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57200" y="2926080"/>
          <a:ext cx="41148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4754880" y="2926080"/>
            <a:ext cx="4114800" cy="182880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4880" y="2926080"/>
            <a:ext cx="64008" cy="18288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3776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💡 Right-Skewed Data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37760" y="34747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Only 38.4% of invoices exceed the average — a small number of high-value purchases pull the average upward.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فقط 38.4% من الفواتير أعلى من المتوسط، مما يعني انحراف البيانات نحو اليمين.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486400" cy="5486400"/>
          </a:xfrm>
          <a:prstGeom prst="ellipse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005840" cy="10058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1A"/>
                </a:solidFill>
              </a:rPr>
              <a:t>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العملاء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09728" cy="109728"/>
          </a:xfrm>
          <a:prstGeom prst="ellipse">
            <a:avLst/>
          </a:prstGeom>
          <a:solidFill>
            <a:srgbClr val="FF6B6B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4480560"/>
            <a:ext cx="109728" cy="109728"/>
          </a:xfrm>
          <a:prstGeom prst="ellipse">
            <a:avLst/>
          </a:prstGeom>
          <a:solidFill>
            <a:srgbClr val="FF6B6B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554480" y="4480560"/>
            <a:ext cx="109728" cy="109728"/>
          </a:xfrm>
          <a:prstGeom prst="ellipse">
            <a:avLst/>
          </a:prstGeom>
          <a:solidFill>
            <a:srgbClr val="FF6B6B">
              <a:alpha val="6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20240" y="4480560"/>
            <a:ext cx="109728" cy="109728"/>
          </a:xfrm>
          <a:prstGeom prst="ellipse">
            <a:avLst/>
          </a:prstGeom>
          <a:solidFill>
            <a:srgbClr val="FF6B6B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0" y="4480560"/>
            <a:ext cx="109728" cy="109728"/>
          </a:xfrm>
          <a:prstGeom prst="ellipse">
            <a:avLst/>
          </a:prstGeom>
          <a:solidFill>
            <a:srgbClr val="FF6B6B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6B"/>
                </a:solidFill>
              </a:rPr>
              <a:t>Q2.1 &amp; Q2.2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Top Spenders &amp; Geographic Distribution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4389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937760" y="114300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224528"/>
            <a:ext cx="8503920" cy="658368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4864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🇨🇿 Czech customers lead individual spending despite lower country-level revenue — prime loyalty campaign targets.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6B"/>
                </a:solidFill>
              </a:rPr>
              <a:t>Q2.3 · Q2.4 · Q2.5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Customer Behavior &amp;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137160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64008" cy="1371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280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21792" y="1856232"/>
            <a:ext cx="24231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Invoices per Customer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 الفواتير لكل عميل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651760" cy="137160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64008" cy="13716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56432" y="1280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56432" y="1856232"/>
            <a:ext cx="24231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Inactive → Churn Risk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أشهر بدون شراء → خطر المغادرة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651760" cy="137160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64008" cy="1371600"/>
          </a:xfrm>
          <a:prstGeom prst="rect">
            <a:avLst/>
          </a:prstGeom>
          <a:solidFill>
            <a:srgbClr val="00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91072" y="1280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91072" y="1856232"/>
            <a:ext cx="24231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a Sales Rep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عملاء بدون مندوب مبيعات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651760" cy="219456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64008" cy="2194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Repeat Buyers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Most customers make ~7 invoices — not one-time buyers. Strong retention signals.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2697480"/>
            <a:ext cx="2651760" cy="219456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91840" y="2697480"/>
            <a:ext cx="64008" cy="21945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56432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Churn Risk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56432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Several accounts inactive 12+ months. Re-engagement campaigns are urgently needed.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697480"/>
            <a:ext cx="2651760" cy="219456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2697480"/>
            <a:ext cx="64008" cy="2194560"/>
          </a:xfrm>
          <a:prstGeom prst="rect">
            <a:avLst/>
          </a:prstGeom>
          <a:solidFill>
            <a:srgbClr val="00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</a:rPr>
              <a:t>Full Coverage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91072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All 59 global customers have a dedicated rep. But only 3 agents — scaling risk!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047488"/>
            <a:ext cx="8412480" cy="502920"/>
          </a:xfrm>
          <a:prstGeom prst="rect">
            <a:avLst/>
          </a:prstGeom>
          <a:solidFill>
            <a:srgbClr val="1A1A30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51023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⚠️  Only 3 support agents serve 59 global customers — team expansion is a strategic priority  |  3 موظفين فقط يخدمون 59 عميلاً — التوسع أولوية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486400" cy="5486400"/>
          </a:xfrm>
          <a:prstGeom prst="ellipse">
            <a:avLst/>
          </a:prstGeom>
          <a:solidFill>
            <a:srgbClr val="FFD166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005840" cy="10058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1A"/>
                </a:solidFill>
              </a:rPr>
              <a:t>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Catalog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كتالوج الموسيقى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09728" cy="109728"/>
          </a:xfrm>
          <a:prstGeom prst="ellipse">
            <a:avLst/>
          </a:prstGeom>
          <a:solidFill>
            <a:srgbClr val="FFD166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4480560"/>
            <a:ext cx="109728" cy="109728"/>
          </a:xfrm>
          <a:prstGeom prst="ellipse">
            <a:avLst/>
          </a:prstGeom>
          <a:solidFill>
            <a:srgbClr val="FFD166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554480" y="4480560"/>
            <a:ext cx="109728" cy="109728"/>
          </a:xfrm>
          <a:prstGeom prst="ellipse">
            <a:avLst/>
          </a:prstGeom>
          <a:solidFill>
            <a:srgbClr val="FFD166">
              <a:alpha val="6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20240" y="4480560"/>
            <a:ext cx="109728" cy="109728"/>
          </a:xfrm>
          <a:prstGeom prst="ellipse">
            <a:avLst/>
          </a:prstGeom>
          <a:solidFill>
            <a:srgbClr val="FFD166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0" y="4480560"/>
            <a:ext cx="109728" cy="109728"/>
          </a:xfrm>
          <a:prstGeom prst="ellipse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166"/>
                </a:solidFill>
              </a:rPr>
              <a:t>Q3.1 &amp; Q3.3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Genre Dominance &amp; Unsold Inventory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143000"/>
            <a:ext cx="3840480" cy="128016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0" y="1143000"/>
            <a:ext cx="64008" cy="1280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93792" y="128016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193792" y="1808683"/>
            <a:ext cx="361188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Catalog NEVER Sold  |  من الكتالوج لم يُباع قط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0" y="2606040"/>
            <a:ext cx="3840480" cy="173736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29200" y="2606040"/>
            <a:ext cx="64008" cy="1737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1208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💡 Dead Inventory Alert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0" y="31089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Over 1,500 tracks have never been purchased. This is significant dead inventory requiring promotional campaigns or catalog cleanup.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أكثر من 1500 مسار لم يُشترى قط — يحتاج ترويجاً أو مراجعة.</a:t>
            </a:r>
            <a:endParaRPr lang="en-US" sz="10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5029200" y="4434840"/>
          <a:ext cx="3840480" cy="77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166"/>
                </a:solidFill>
              </a:rPr>
              <a:t>Q3.2 · Q3.4 · Q3.5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Artists, Track Duration &amp; Media Types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120640" y="1143000"/>
          <a:ext cx="3840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069080"/>
            <a:ext cx="4572000" cy="82296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48640" y="41605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🎵 Medium-length tracks (3–5 min) achieve the highest sales rate at 0.78. Very long tracks (&gt;8 min) barely sell.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120640" y="4069080"/>
            <a:ext cx="3840480" cy="82296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303520" y="4160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Top Catalog Artists: Iron Maiden (213), Led Zeppelin (114), Metallica (112 tracks)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486400" cy="54864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005840" cy="10058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1A"/>
                </a:solidFill>
              </a:rPr>
              <a:t>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&amp; Performance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الموظفين والأداء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09728" cy="109728"/>
          </a:xfrm>
          <a:prstGeom prst="ellipse">
            <a:avLst/>
          </a:prstGeom>
          <a:solidFill>
            <a:srgbClr val="A855F7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4480560"/>
            <a:ext cx="109728" cy="109728"/>
          </a:xfrm>
          <a:prstGeom prst="ellipse">
            <a:avLst/>
          </a:prstGeom>
          <a:solidFill>
            <a:srgbClr val="A855F7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554480" y="4480560"/>
            <a:ext cx="109728" cy="109728"/>
          </a:xfrm>
          <a:prstGeom prst="ellipse">
            <a:avLst/>
          </a:prstGeom>
          <a:solidFill>
            <a:srgbClr val="A855F7">
              <a:alpha val="6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20240" y="4480560"/>
            <a:ext cx="109728" cy="109728"/>
          </a:xfrm>
          <a:prstGeom prst="ellipse">
            <a:avLst/>
          </a:prstGeom>
          <a:solidFill>
            <a:srgbClr val="A855F7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0" y="4480560"/>
            <a:ext cx="109728" cy="109728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55F7"/>
                </a:solidFill>
              </a:rPr>
              <a:t>Q4.1 · Q4.2 · Q4.3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Sales Agent Performance &amp; Org Structure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4937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143000"/>
            <a:ext cx="3383280" cy="274320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Org Hierarchy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09360" y="1691640"/>
            <a:ext cx="192024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0936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Andrew Adams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269480" y="2103120"/>
            <a:ext cx="0" cy="22860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309360" y="2331720"/>
            <a:ext cx="1920240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360" y="23317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Nancy Edwards · Sales Mgr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269480" y="2679192"/>
            <a:ext cx="0" cy="201168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9048" y="2880360"/>
            <a:ext cx="0" cy="18288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0" y="3063240"/>
            <a:ext cx="804672" cy="594360"/>
          </a:xfrm>
          <a:prstGeom prst="rect">
            <a:avLst/>
          </a:prstGeom>
          <a:solidFill>
            <a:srgbClr val="1E1E3C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15000" y="3063240"/>
            <a:ext cx="804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</a:rPr>
              <a:t>Jane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</a:rPr>
              <a:t>Peacock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7150608" y="2880360"/>
            <a:ext cx="0" cy="18288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766560" y="3063240"/>
            <a:ext cx="804672" cy="594360"/>
          </a:xfrm>
          <a:prstGeom prst="rect">
            <a:avLst/>
          </a:prstGeom>
          <a:solidFill>
            <a:srgbClr val="1E1E3C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766560" y="3063240"/>
            <a:ext cx="804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</a:rPr>
              <a:t>Margaret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</a:rPr>
              <a:t>Park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202168" y="2880360"/>
            <a:ext cx="0" cy="18288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818120" y="3063240"/>
            <a:ext cx="804672" cy="594360"/>
          </a:xfrm>
          <a:prstGeom prst="rect">
            <a:avLst/>
          </a:prstGeom>
          <a:solidFill>
            <a:srgbClr val="1E1E3C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818120" y="3063240"/>
            <a:ext cx="804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</a:rPr>
              <a:t>Steve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</a:rPr>
              <a:t>Johnson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5760" y="4069080"/>
            <a:ext cx="8503920" cy="77724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65760" y="4069080"/>
            <a:ext cx="64008" cy="777240"/>
          </a:xfrm>
          <a:prstGeom prst="rect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8640" y="41879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Revenue variance across agents is only ~15% — indicating consistent team performance. Jane Peacock leads slightly in both customers and revenue.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474720" cy="347472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55F7"/>
                </a:solidFill>
              </a:rPr>
              <a:t>Q4.4 &amp; Q4.5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Portfolio Coverage &amp; Size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258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21792" y="1901952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Customers per Agent  |  متوسط العملاء لكل موظف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137160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64008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4992" y="13258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64992" y="1901952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Global Customers  |  إجمالي العملاء العالميين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2560320" cy="137160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1188720"/>
            <a:ext cx="64008" cy="1371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08192" y="13258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08192" y="1901952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Agents Worldwide  |  موظفو الدعم عالمياً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2743200"/>
          <a:ext cx="5029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669280" y="2743200"/>
            <a:ext cx="3200400" cy="210312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669280" y="2743200"/>
            <a:ext cx="64008" cy="2103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⚠️ Business Continuity Risk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52160" y="3291840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With only 3 agents covering 59 global customers, any absence creates a significant support gap. Expanding the team should be a strategic priority.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أي غياب يُحدث فجوة دعم كبيرة — التوسع أولوية استراتيجية.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572000" cy="4572000"/>
          </a:xfrm>
          <a:prstGeom prst="ellipse">
            <a:avLst/>
          </a:prstGeom>
          <a:solidFill>
            <a:srgbClr val="00C9B1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474720" cy="3474720"/>
          </a:xfrm>
          <a:prstGeom prst="ellipse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9B1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أبرز النتائج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00584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1005840"/>
          </a:xfrm>
          <a:prstGeom prst="rect">
            <a:avLst/>
          </a:prstGeom>
          <a:solidFill>
            <a:srgbClr val="00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3075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USA leads global revenue at ~26% of total sales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1737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الولايات المتحدة تقود إيرادات الشركة بحوالي 26%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14800" cy="100584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64008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18888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13075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Rock genre dominates 53% of all track purchases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49240" y="1737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نوع الروك يهيمن على 53% من مشتريات المسارات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4114800" cy="100584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64008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" y="2514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4963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43% of catalog tracks have NEVER been sold — major opportunity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51560" y="2926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43% من مسارات الكتالوج لم تُباع قط — فرصة ترويجية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4114800" cy="100584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64008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18888" y="2514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24963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Only 3 agents serve 59 global customers — scale risk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49240" y="2926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3 موظفين فقط يخدمون 59 عميلاً عالمياً — خطر التوسع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4114800" cy="100584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611880"/>
            <a:ext cx="640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1208" y="3703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36850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Czech customers show highest individual spending — loyalty opportunity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51560" y="41148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عملاء التشيك يُظهرون أعلى إنفاق فردي — فرصة برامج ولاء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611880"/>
            <a:ext cx="4114800" cy="1005840"/>
          </a:xfrm>
          <a:prstGeom prst="rect">
            <a:avLst/>
          </a:prstGeom>
          <a:solidFill>
            <a:srgbClr val="1E1E3C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3611880"/>
            <a:ext cx="64008" cy="1005840"/>
          </a:xfrm>
          <a:prstGeom prst="rect">
            <a:avLst/>
          </a:prstGeom>
          <a:solidFill>
            <a:srgbClr val="00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18888" y="3703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49240" y="36850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Medium-length tracks (3–5 min) sell best by rate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49240" y="41148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المسارات متوسطة الطول (3–5 دقائق) تحقق أعلى معدل مبيعات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C9B1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0" y="-457200"/>
            <a:ext cx="2743200" cy="2743200"/>
          </a:xfrm>
          <a:prstGeom prst="ellipse">
            <a:avLst/>
          </a:prstGeom>
          <a:solidFill>
            <a:srgbClr val="FFD166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0" y="457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🎵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00C9B1"/>
                </a:solidFill>
              </a:rPr>
              <a:t>شكراً لكم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Chinook Music Store  ·  Data Analysis Report  ·  SQL-Powered Insights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4114800"/>
            <a:ext cx="256032" cy="256032"/>
          </a:xfrm>
          <a:prstGeom prst="ellipse">
            <a:avLst/>
          </a:prstGeom>
          <a:solidFill>
            <a:srgbClr val="00C9B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94760" y="4114800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0" y="4114800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4114800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03520" y="411480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864</Words>
  <Application>Microsoft Office PowerPoint</Application>
  <PresentationFormat>On-screen Show (16:9)</PresentationFormat>
  <Paragraphs>180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Chinook Music Store – Data Analysis</dc:title>
  <dc:subject>PptxGenJS Presentation</dc:subject>
  <dc:creator>PptxGenJS</dc:creator>
  <cp:lastModifiedBy>Mohamed Darwish</cp:lastModifiedBy>
  <cp:revision>3</cp:revision>
  <dcterms:created xsi:type="dcterms:W3CDTF">2026-04-17T07:57:54Z</dcterms:created>
  <dcterms:modified xsi:type="dcterms:W3CDTF">2026-04-17T11:33:46Z</dcterms:modified>
</cp:coreProperties>
</file>